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Geo"/>
      <p:regular r:id="rId17"/>
      <p: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gEGnTMM/YrFUQT6IXOYIirpHJD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slide" Target="slides/slide6.xml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Ge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Ge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46f1970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46f19708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46f1970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b46f19708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4D6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8991600" cy="10287000"/>
          </a:xfrm>
          <a:custGeom>
            <a:rect b="b" l="l" r="r" t="t"/>
            <a:pathLst>
              <a:path extrusionOk="0" h="1184737" w="1035548">
                <a:moveTo>
                  <a:pt x="0" y="0"/>
                </a:moveTo>
                <a:lnTo>
                  <a:pt x="1035548" y="0"/>
                </a:lnTo>
                <a:lnTo>
                  <a:pt x="1035548" y="1184737"/>
                </a:lnTo>
                <a:lnTo>
                  <a:pt x="0" y="1184737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77" l="0" r="0" t="-377"/>
            </a:stretch>
          </a:blipFill>
          <a:ln>
            <a:noFill/>
          </a:ln>
        </p:spPr>
      </p:sp>
      <p:grpSp>
        <p:nvGrpSpPr>
          <p:cNvPr id="85" name="Google Shape;85;p1"/>
          <p:cNvGrpSpPr/>
          <p:nvPr/>
        </p:nvGrpSpPr>
        <p:grpSpPr>
          <a:xfrm>
            <a:off x="10744200" y="738188"/>
            <a:ext cx="6877050" cy="513647"/>
            <a:chOff x="1" y="95250"/>
            <a:chExt cx="9169400" cy="684862"/>
          </a:xfrm>
        </p:grpSpPr>
        <p:sp>
          <p:nvSpPr>
            <p:cNvPr id="86" name="Google Shape;86;p1"/>
            <p:cNvSpPr/>
            <p:nvPr/>
          </p:nvSpPr>
          <p:spPr>
            <a:xfrm flipH="1" rot="-5400000">
              <a:off x="36553" y="74861"/>
              <a:ext cx="555143" cy="628248"/>
            </a:xfrm>
            <a:custGeom>
              <a:rect b="b" l="l" r="r" t="t"/>
              <a:pathLst>
                <a:path extrusionOk="0"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p1"/>
            <p:cNvSpPr txBox="1"/>
            <p:nvPr/>
          </p:nvSpPr>
          <p:spPr>
            <a:xfrm>
              <a:off x="795304" y="95250"/>
              <a:ext cx="8374096" cy="68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2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864" u="none" cap="none" strike="noStrike">
                  <a:solidFill>
                    <a:srgbClr val="E0FBFC"/>
                  </a:solidFill>
                  <a:latin typeface="Geo"/>
                  <a:ea typeface="Geo"/>
                  <a:cs typeface="Geo"/>
                  <a:sym typeface="Geo"/>
                </a:rPr>
                <a:t>Ethical Insights</a:t>
              </a:r>
              <a:endParaRPr/>
            </a:p>
          </p:txBody>
        </p:sp>
      </p:grpSp>
      <p:grpSp>
        <p:nvGrpSpPr>
          <p:cNvPr id="88" name="Google Shape;88;p1"/>
          <p:cNvGrpSpPr/>
          <p:nvPr/>
        </p:nvGrpSpPr>
        <p:grpSpPr>
          <a:xfrm>
            <a:off x="10734675" y="1712119"/>
            <a:ext cx="6886575" cy="2863759"/>
            <a:chOff x="0" y="200025"/>
            <a:chExt cx="9182100" cy="3818345"/>
          </a:xfrm>
        </p:grpSpPr>
        <p:sp>
          <p:nvSpPr>
            <p:cNvPr id="89" name="Google Shape;89;p1"/>
            <p:cNvSpPr txBox="1"/>
            <p:nvPr/>
          </p:nvSpPr>
          <p:spPr>
            <a:xfrm>
              <a:off x="0" y="200025"/>
              <a:ext cx="9182100" cy="1920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499" u="none" cap="none" strike="noStrike">
                  <a:solidFill>
                    <a:srgbClr val="98C1D9"/>
                  </a:solidFill>
                  <a:latin typeface="Geo"/>
                  <a:ea typeface="Geo"/>
                  <a:cs typeface="Geo"/>
                  <a:sym typeface="Geo"/>
                </a:rPr>
                <a:t>Audit Plan</a:t>
              </a:r>
              <a:endParaRPr/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2371815"/>
              <a:ext cx="9172670" cy="16465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599" u="none" cap="none" strike="noStrike">
                  <a:solidFill>
                    <a:srgbClr val="E0FBFC"/>
                  </a:solidFill>
                  <a:latin typeface="DM Sans"/>
                  <a:ea typeface="DM Sans"/>
                  <a:cs typeface="DM Sans"/>
                  <a:sym typeface="DM Sans"/>
                </a:rPr>
                <a:t>Comprehensive Ethical Review Process</a:t>
              </a:r>
              <a:endParaRPr/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10744200" y="8705184"/>
            <a:ext cx="5743575" cy="892852"/>
            <a:chOff x="0" y="-47625"/>
            <a:chExt cx="7658100" cy="1190469"/>
          </a:xfrm>
        </p:grpSpPr>
        <p:sp>
          <p:nvSpPr>
            <p:cNvPr id="92" name="Google Shape;92;p1"/>
            <p:cNvSpPr txBox="1"/>
            <p:nvPr/>
          </p:nvSpPr>
          <p:spPr>
            <a:xfrm>
              <a:off x="0" y="691344"/>
              <a:ext cx="7658100" cy="45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E0FBFC"/>
                  </a:solidFill>
                  <a:latin typeface="DM Sans"/>
                  <a:ea typeface="DM Sans"/>
                  <a:cs typeface="DM Sans"/>
                  <a:sym typeface="DM Sans"/>
                </a:rPr>
                <a:t>Your Name Here</a:t>
              </a:r>
              <a:endParaRPr/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76581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E0FBFC"/>
                  </a:solidFill>
                  <a:latin typeface="DM Sans"/>
                  <a:ea typeface="DM Sans"/>
                  <a:cs typeface="DM Sans"/>
                  <a:sym typeface="DM Sans"/>
                </a:rPr>
                <a:t>PRESENTED BY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8C1D9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0734675" y="0"/>
            <a:ext cx="7553325" cy="10287000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" l="0" r="0" t="-204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666750" y="716756"/>
            <a:ext cx="8324850" cy="3697075"/>
            <a:chOff x="0" y="66675"/>
            <a:chExt cx="11099800" cy="4929433"/>
          </a:xfrm>
        </p:grpSpPr>
        <p:sp>
          <p:nvSpPr>
            <p:cNvPr id="100" name="Google Shape;100;p2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0" u="none" cap="none" strike="noStrike">
                  <a:solidFill>
                    <a:srgbClr val="2A4D69"/>
                  </a:solidFill>
                  <a:latin typeface="Geo"/>
                  <a:ea typeface="Geo"/>
                  <a:cs typeface="Geo"/>
                  <a:sym typeface="Geo"/>
                </a:rPr>
                <a:t>Executive Summary</a:t>
              </a:r>
              <a:endParaRPr/>
            </a:p>
          </p:txBody>
        </p:sp>
        <p:sp>
          <p:nvSpPr>
            <p:cNvPr id="101" name="Google Shape;101;p2"/>
            <p:cNvSpPr txBox="1"/>
            <p:nvPr/>
          </p:nvSpPr>
          <p:spPr>
            <a:xfrm>
              <a:off x="0" y="3533703"/>
              <a:ext cx="11099800" cy="1462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This section provides an overview of the audit's </a:t>
              </a:r>
              <a:r>
                <a:rPr b="1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objectives</a:t>
              </a:r>
              <a:r>
                <a:rPr b="0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 and the main outcomes, highlighting key findings that guide our strategic approach to ethical considerations.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B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/>
        </p:nvSpPr>
        <p:spPr>
          <a:xfrm>
            <a:off x="9296400" y="2406015"/>
            <a:ext cx="7191375" cy="14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The data sources utilized in this audit include </a:t>
            </a:r>
            <a:r>
              <a:rPr b="1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internal databases</a:t>
            </a: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, public records, and third-party benchmarks, ensuring a comprehensive analysis of all relevant ethical considerations and impacts.</a:t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9296400" y="1510665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DATA SOURCES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9296400" y="5095875"/>
            <a:ext cx="7191375" cy="14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The algorithmic structure is designed to facilitate </a:t>
            </a:r>
            <a:r>
              <a:rPr b="1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transparency</a:t>
            </a: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 and accountability, incorporating multiple layers of evaluation to ensure each decision point aligns with ethical guidelines and stakeholder expectations.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9296400" y="4200525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ALGORITHMIC STRUCTURE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9296400" y="7778115"/>
            <a:ext cx="7191375" cy="14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Key assumptions underpinning this model include the </a:t>
            </a:r>
            <a:r>
              <a:rPr b="1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validity</a:t>
            </a: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 of sourced data, the reliability of algorithmic outputs, and the commitment of all stakeholders to adhere to established ethical standards.</a:t>
            </a:r>
            <a:endParaRPr/>
          </a:p>
        </p:txBody>
      </p:sp>
      <p:sp>
        <p:nvSpPr>
          <p:cNvPr id="111" name="Google Shape;111;p3"/>
          <p:cNvSpPr txBox="1"/>
          <p:nvPr/>
        </p:nvSpPr>
        <p:spPr>
          <a:xfrm>
            <a:off x="9296400" y="6887795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KEY ASSUMPTIONS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666750" y="733425"/>
            <a:ext cx="5753100" cy="2263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A4D69"/>
                </a:solidFill>
                <a:latin typeface="Geo"/>
                <a:ea typeface="Geo"/>
                <a:cs typeface="Geo"/>
                <a:sym typeface="Geo"/>
              </a:rPr>
              <a:t>Model Overview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4D69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9296400" y="2409825"/>
            <a:ext cx="6886575" cy="4553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The audit encompasses a comprehensive review of:</a:t>
            </a:r>
            <a:endParaRPr/>
          </a:p>
          <a:p>
            <a:pPr indent="-280668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E0FBFC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Data collection methods</a:t>
            </a:r>
            <a:endParaRPr/>
          </a:p>
          <a:p>
            <a:pPr indent="-280668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E0FBFC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Compliance with ethical guidelines</a:t>
            </a:r>
            <a:endParaRPr/>
          </a:p>
          <a:p>
            <a:pPr indent="-280668" lvl="1" marL="561339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Clr>
                <a:srgbClr val="E0FBFC"/>
              </a:buClr>
              <a:buSzPts val="2599"/>
              <a:buFont typeface="Arial"/>
              <a:buChar char="•"/>
            </a:pPr>
            <a:r>
              <a:rPr b="0" i="0" lang="en-US" sz="2599" u="none" cap="none" strike="noStrike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Stakeholder engagement strategies</a:t>
            </a:r>
            <a:endParaRPr/>
          </a:p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This methodology ensures a thorough understanding of potential ethical implications and establishes a foundation for continuous improvement in practices and policies.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66750" y="657225"/>
            <a:ext cx="5762625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98C1D9"/>
                </a:solidFill>
                <a:latin typeface="Geo"/>
                <a:ea typeface="Geo"/>
                <a:cs typeface="Geo"/>
                <a:sym typeface="Geo"/>
              </a:rPr>
              <a:t>Audit Scope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8C1D9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A4D69"/>
                </a:solidFill>
                <a:latin typeface="Geo"/>
                <a:ea typeface="Geo"/>
                <a:cs typeface="Geo"/>
                <a:sym typeface="Geo"/>
              </a:rPr>
              <a:t>Findings and Explainability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666750" y="3352800"/>
            <a:ext cx="8324850" cy="6267450"/>
          </a:xfrm>
          <a:custGeom>
            <a:rect b="b" l="l" r="r" t="t"/>
            <a:pathLst>
              <a:path extrusionOk="0" h="1583715" w="2103597">
                <a:moveTo>
                  <a:pt x="0" y="0"/>
                </a:moveTo>
                <a:lnTo>
                  <a:pt x="2103597" y="0"/>
                </a:lnTo>
                <a:lnTo>
                  <a:pt x="2103597" y="1583715"/>
                </a:lnTo>
                <a:lnTo>
                  <a:pt x="0" y="158371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57" r="-356" t="0"/>
            </a:stretch>
          </a:blipFill>
          <a:ln>
            <a:noFill/>
          </a:ln>
        </p:spPr>
      </p:sp>
      <p:sp>
        <p:nvSpPr>
          <p:cNvPr id="125" name="Google Shape;125;p5"/>
          <p:cNvSpPr/>
          <p:nvPr/>
        </p:nvSpPr>
        <p:spPr>
          <a:xfrm>
            <a:off x="9296400" y="3352800"/>
            <a:ext cx="8324850" cy="6267450"/>
          </a:xfrm>
          <a:custGeom>
            <a:rect b="b" l="l" r="r" t="t"/>
            <a:pathLst>
              <a:path extrusionOk="0" h="1583715" w="2103597">
                <a:moveTo>
                  <a:pt x="0" y="0"/>
                </a:moveTo>
                <a:lnTo>
                  <a:pt x="2103597" y="0"/>
                </a:lnTo>
                <a:lnTo>
                  <a:pt x="2103597" y="1583715"/>
                </a:lnTo>
                <a:lnTo>
                  <a:pt x="0" y="1583715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57" r="-356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4D6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6f197084_0_0"/>
          <p:cNvSpPr txBox="1"/>
          <p:nvPr/>
        </p:nvSpPr>
        <p:spPr>
          <a:xfrm>
            <a:off x="9296400" y="2409825"/>
            <a:ext cx="6886500" cy="15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This </a:t>
            </a:r>
            <a:r>
              <a:rPr lang="en-US" sz="2599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section </a:t>
            </a:r>
            <a:r>
              <a:rPr lang="en-US" sz="2599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highlights</a:t>
            </a:r>
            <a:r>
              <a:rPr lang="en-US" sz="2599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 the testing and </a:t>
            </a:r>
            <a:r>
              <a:rPr lang="en-US" sz="2599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explainability</a:t>
            </a:r>
            <a:r>
              <a:rPr lang="en-US" sz="2599">
                <a:solidFill>
                  <a:srgbClr val="E0FBFC"/>
                </a:solidFill>
                <a:latin typeface="DM Sans"/>
                <a:ea typeface="DM Sans"/>
                <a:cs typeface="DM Sans"/>
                <a:sym typeface="DM Sans"/>
              </a:rPr>
              <a:t> methods used to evaluate the model’s performance.</a:t>
            </a:r>
            <a:endParaRPr/>
          </a:p>
        </p:txBody>
      </p:sp>
      <p:sp>
        <p:nvSpPr>
          <p:cNvPr id="131" name="Google Shape;131;g3b46f197084_0_0"/>
          <p:cNvSpPr txBox="1"/>
          <p:nvPr/>
        </p:nvSpPr>
        <p:spPr>
          <a:xfrm>
            <a:off x="666750" y="657225"/>
            <a:ext cx="57627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8000">
                <a:solidFill>
                  <a:srgbClr val="98C1D9"/>
                </a:solidFill>
                <a:latin typeface="Geo"/>
                <a:ea typeface="Geo"/>
                <a:cs typeface="Geo"/>
                <a:sym typeface="Geo"/>
              </a:rPr>
              <a:t>Findings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>
              <a:solidFill>
                <a:srgbClr val="98C1D9"/>
              </a:solidFill>
              <a:latin typeface="Geo"/>
              <a:ea typeface="Geo"/>
              <a:cs typeface="Geo"/>
              <a:sym typeface="Ge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8C1D9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46f197084_0_5"/>
          <p:cNvSpPr txBox="1"/>
          <p:nvPr/>
        </p:nvSpPr>
        <p:spPr>
          <a:xfrm>
            <a:off x="666750" y="733425"/>
            <a:ext cx="57531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2A4D69"/>
                </a:solidFill>
                <a:latin typeface="Geo"/>
                <a:ea typeface="Geo"/>
                <a:cs typeface="Geo"/>
                <a:sym typeface="Geo"/>
              </a:rPr>
              <a:t>Explainability Summary Table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B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6"/>
          <p:cNvGrpSpPr/>
          <p:nvPr/>
        </p:nvGrpSpPr>
        <p:grpSpPr>
          <a:xfrm>
            <a:off x="666750" y="7260431"/>
            <a:ext cx="7191375" cy="2359819"/>
            <a:chOff x="0" y="-47625"/>
            <a:chExt cx="9588500" cy="3146425"/>
          </a:xfrm>
        </p:grpSpPr>
        <p:sp>
          <p:nvSpPr>
            <p:cNvPr id="142" name="Google Shape;142;p6"/>
            <p:cNvSpPr txBox="1"/>
            <p:nvPr/>
          </p:nvSpPr>
          <p:spPr>
            <a:xfrm>
              <a:off x="0" y="1141095"/>
              <a:ext cx="9588500" cy="195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Vulnerability mapping</a:t>
              </a:r>
              <a:r>
                <a:rPr b="0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 identifies and visualizes areas of weakness within the organization, allowing stakeholders to comprehend where enhancements are needed to minimize risks effectively.</a:t>
              </a:r>
              <a:endParaRPr/>
            </a:p>
          </p:txBody>
        </p:sp>
        <p:sp>
          <p:nvSpPr>
            <p:cNvPr id="143" name="Google Shape;143;p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VULNERABILITY MAPPING</a:t>
              </a:r>
              <a:endParaRPr/>
            </a:p>
          </p:txBody>
        </p:sp>
      </p:grpSp>
      <p:grpSp>
        <p:nvGrpSpPr>
          <p:cNvPr id="144" name="Google Shape;144;p6"/>
          <p:cNvGrpSpPr/>
          <p:nvPr/>
        </p:nvGrpSpPr>
        <p:grpSpPr>
          <a:xfrm>
            <a:off x="9296400" y="7260431"/>
            <a:ext cx="7191375" cy="2359819"/>
            <a:chOff x="0" y="-47625"/>
            <a:chExt cx="9588500" cy="3146425"/>
          </a:xfrm>
        </p:grpSpPr>
        <p:sp>
          <p:nvSpPr>
            <p:cNvPr id="145" name="Google Shape;145;p6"/>
            <p:cNvSpPr txBox="1"/>
            <p:nvPr/>
          </p:nvSpPr>
          <p:spPr>
            <a:xfrm>
              <a:off x="0" y="1141095"/>
              <a:ext cx="9588500" cy="195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Stakeholder prioritization</a:t>
              </a:r>
              <a:r>
                <a:rPr b="0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 assesses the influence and importance of various stakeholders, ensuring that risk management strategies align with their expectations and support overall business objectives.</a:t>
              </a:r>
              <a:endParaRPr/>
            </a:p>
          </p:txBody>
        </p:sp>
        <p:sp>
          <p:nvSpPr>
            <p:cNvPr id="146" name="Google Shape;146;p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STAKEHOLDER PRIORITIZATION</a:t>
              </a:r>
              <a:endParaRPr/>
            </a:p>
          </p:txBody>
        </p:sp>
      </p:grpSp>
      <p:grpSp>
        <p:nvGrpSpPr>
          <p:cNvPr id="147" name="Google Shape;147;p6"/>
          <p:cNvGrpSpPr/>
          <p:nvPr/>
        </p:nvGrpSpPr>
        <p:grpSpPr>
          <a:xfrm>
            <a:off x="666750" y="4212431"/>
            <a:ext cx="7191375" cy="2347119"/>
            <a:chOff x="0" y="-47625"/>
            <a:chExt cx="9588500" cy="3129492"/>
          </a:xfrm>
        </p:grpSpPr>
        <p:sp>
          <p:nvSpPr>
            <p:cNvPr id="148" name="Google Shape;148;p6"/>
            <p:cNvSpPr txBox="1"/>
            <p:nvPr/>
          </p:nvSpPr>
          <p:spPr>
            <a:xfrm>
              <a:off x="0" y="1124162"/>
              <a:ext cx="9588500" cy="19577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The </a:t>
              </a:r>
              <a:r>
                <a:rPr b="1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impact analysis</a:t>
              </a:r>
              <a:r>
                <a:rPr b="0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 evaluates the potential consequences of identified risks on business operations, reputation, and stakeholder trust, ensuring prioritized focus on mitigating the most significant threats.</a:t>
              </a:r>
              <a:endParaRPr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IMPACT ANALYSIS</a:t>
              </a:r>
              <a:endParaRPr/>
            </a:p>
          </p:txBody>
        </p:sp>
      </p:grpSp>
      <p:grpSp>
        <p:nvGrpSpPr>
          <p:cNvPr id="150" name="Google Shape;150;p6"/>
          <p:cNvGrpSpPr/>
          <p:nvPr/>
        </p:nvGrpSpPr>
        <p:grpSpPr>
          <a:xfrm>
            <a:off x="9296400" y="4583906"/>
            <a:ext cx="7191375" cy="1992154"/>
            <a:chOff x="0" y="-47625"/>
            <a:chExt cx="9588500" cy="2656205"/>
          </a:xfrm>
        </p:grpSpPr>
        <p:sp>
          <p:nvSpPr>
            <p:cNvPr id="151" name="Google Shape;151;p6"/>
            <p:cNvSpPr txBox="1"/>
            <p:nvPr/>
          </p:nvSpPr>
          <p:spPr>
            <a:xfrm>
              <a:off x="0" y="1146175"/>
              <a:ext cx="9588500" cy="14624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Probability scoring</a:t>
              </a:r>
              <a:r>
                <a:rPr b="0" i="0" lang="en-US" sz="21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 quantifies the likelihood of each risk occurring, assisting in the prioritization of risks based on their potential frequency and impact on the organization.</a:t>
              </a:r>
              <a:endParaRPr/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0" y="-47625"/>
              <a:ext cx="9588500" cy="569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00" u="none" cap="none" strike="noStrike">
                  <a:solidFill>
                    <a:srgbClr val="2A4D69"/>
                  </a:solidFill>
                  <a:latin typeface="DM Sans"/>
                  <a:ea typeface="DM Sans"/>
                  <a:cs typeface="DM Sans"/>
                  <a:sym typeface="DM Sans"/>
                </a:rPr>
                <a:t>PROBABILITY SCORING</a:t>
              </a:r>
              <a:endParaRPr/>
            </a:p>
          </p:txBody>
        </p:sp>
      </p:grpSp>
      <p:sp>
        <p:nvSpPr>
          <p:cNvPr id="153" name="Google Shape;153;p6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A4D69"/>
                </a:solidFill>
                <a:latin typeface="Geo"/>
                <a:ea typeface="Geo"/>
                <a:cs typeface="Geo"/>
                <a:sym typeface="Geo"/>
              </a:rPr>
              <a:t>Risk Assessment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8C1D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9296400" y="2406015"/>
            <a:ext cx="7191375" cy="14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Implementing immediate </a:t>
            </a:r>
            <a:r>
              <a:rPr b="1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corrective actions</a:t>
            </a: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 addresses identified ethical issues, ensuring compliance with established standards and restoring stakeholder trust in our operations and decision-making processes.</a:t>
            </a:r>
            <a:endParaRPr/>
          </a:p>
        </p:txBody>
      </p:sp>
      <p:sp>
        <p:nvSpPr>
          <p:cNvPr id="159" name="Google Shape;159;p7"/>
          <p:cNvSpPr txBox="1"/>
          <p:nvPr/>
        </p:nvSpPr>
        <p:spPr>
          <a:xfrm>
            <a:off x="9296400" y="1510665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CORRECTIVE ACTIONS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9296400" y="5095875"/>
            <a:ext cx="7191375" cy="14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Establishing robust </a:t>
            </a:r>
            <a:r>
              <a:rPr b="1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preventative measures</a:t>
            </a: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 helps mitigate future risks by integrating ethical considerations into all levels of decision-making, fostering a culture of accountability and transparency across the organization.</a:t>
            </a:r>
            <a:endParaRPr/>
          </a:p>
        </p:txBody>
      </p:sp>
      <p:sp>
        <p:nvSpPr>
          <p:cNvPr id="161" name="Google Shape;161;p7"/>
          <p:cNvSpPr txBox="1"/>
          <p:nvPr/>
        </p:nvSpPr>
        <p:spPr>
          <a:xfrm>
            <a:off x="9296400" y="4200525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PREVENTATIVE MEASURES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9296400" y="7778115"/>
            <a:ext cx="7191375" cy="144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Continuous </a:t>
            </a:r>
            <a:r>
              <a:rPr b="1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monitoring protocols</a:t>
            </a:r>
            <a:r>
              <a:rPr b="0" i="0" lang="en-US" sz="2073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 are essential to track the effectiveness of implemented strategies, enabling timely adjustments to ensure ethical compliance while enhancing stakeholder engagement and satisfaction.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9296400" y="6887795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MONITORING PROTOCOLS</a:t>
            </a:r>
            <a:endParaRPr/>
          </a:p>
        </p:txBody>
      </p:sp>
      <p:sp>
        <p:nvSpPr>
          <p:cNvPr id="164" name="Google Shape;164;p7"/>
          <p:cNvSpPr txBox="1"/>
          <p:nvPr/>
        </p:nvSpPr>
        <p:spPr>
          <a:xfrm>
            <a:off x="666750" y="733425"/>
            <a:ext cx="5753100" cy="2263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A4D69"/>
                </a:solidFill>
                <a:latin typeface="Geo"/>
                <a:ea typeface="Geo"/>
                <a:cs typeface="Geo"/>
                <a:sym typeface="Geo"/>
              </a:rPr>
              <a:t>Mitigation Strategy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FB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/>
        </p:nvSpPr>
        <p:spPr>
          <a:xfrm>
            <a:off x="666750" y="733425"/>
            <a:ext cx="5753100" cy="2263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2A4D69"/>
                </a:solidFill>
                <a:latin typeface="Geo"/>
                <a:ea typeface="Geo"/>
                <a:cs typeface="Geo"/>
                <a:sym typeface="Geo"/>
              </a:rPr>
              <a:t>Residual Risks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9296400" y="2419350"/>
            <a:ext cx="7191375" cy="143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Despite implementing mitigation strategies, certain </a:t>
            </a:r>
            <a:r>
              <a:rPr b="1" i="0" lang="en-US" sz="206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residual uncertainties</a:t>
            </a:r>
            <a:r>
              <a:rPr b="0" i="0" lang="en-US" sz="206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 persist, potentially affecting stakeholder trust and overall project outcomes. Continuous monitoring will help address these concerns effectively.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9296400" y="1514475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REMAINING UNCERTAINTIES</a:t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9296400" y="5105400"/>
            <a:ext cx="7191375" cy="143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6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It is essential to implement </a:t>
            </a:r>
            <a:r>
              <a:rPr b="1" i="0" lang="en-US" sz="206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ongoing review mechanisms</a:t>
            </a:r>
            <a:r>
              <a:rPr b="0" i="0" lang="en-US" sz="206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 and stakeholder engagement sessions. These practices will ensure transparency and adaptability, promoting long-term sustainability and ethical compliance in operations.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9296400" y="4200525"/>
            <a:ext cx="7191375" cy="4387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FURTHER RECOMMENDATIONS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98C1D9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10734675" y="0"/>
            <a:ext cx="7553325" cy="10287000"/>
          </a:xfrm>
          <a:custGeom>
            <a:rect b="b" l="l" r="r" t="t"/>
            <a:pathLst>
              <a:path extrusionOk="0" h="1593725" w="1170208">
                <a:moveTo>
                  <a:pt x="0" y="0"/>
                </a:moveTo>
                <a:lnTo>
                  <a:pt x="1170208" y="0"/>
                </a:lnTo>
                <a:lnTo>
                  <a:pt x="1170208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04" l="0" r="0" t="-204"/>
            </a:stretch>
          </a:blipFill>
          <a:ln>
            <a:noFill/>
          </a:ln>
        </p:spPr>
      </p:sp>
      <p:sp>
        <p:nvSpPr>
          <p:cNvPr id="179" name="Google Shape;179;p9"/>
          <p:cNvSpPr txBox="1"/>
          <p:nvPr/>
        </p:nvSpPr>
        <p:spPr>
          <a:xfrm>
            <a:off x="666750" y="851535"/>
            <a:ext cx="97632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2A4D69"/>
                </a:solidFill>
                <a:latin typeface="Geo"/>
                <a:ea typeface="Geo"/>
                <a:cs typeface="Geo"/>
                <a:sym typeface="Geo"/>
              </a:rPr>
              <a:t>Next Steps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884225" y="2769775"/>
            <a:ext cx="71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RECOMMENDATIONS</a:t>
            </a:r>
            <a:endParaRPr/>
          </a:p>
        </p:txBody>
      </p:sp>
      <p:sp>
        <p:nvSpPr>
          <p:cNvPr id="181" name="Google Shape;181;p9"/>
          <p:cNvSpPr txBox="1"/>
          <p:nvPr/>
        </p:nvSpPr>
        <p:spPr>
          <a:xfrm>
            <a:off x="802700" y="3540350"/>
            <a:ext cx="7191300" cy="7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60">
                <a:solidFill>
                  <a:srgbClr val="2A4D69"/>
                </a:solidFill>
                <a:latin typeface="DM Sans"/>
                <a:ea typeface="DM Sans"/>
                <a:cs typeface="DM Sans"/>
                <a:sym typeface="DM Sans"/>
              </a:rPr>
              <a:t>It is important to recommend next steps to the ethics committee at the conclusion of this presentation.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